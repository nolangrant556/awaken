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55680" cy="27432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waken:title"/>
          <p:cNvSpPr txBox="1"/>
          <p:nvPr/>
        </p:nvSpPr>
        <p:spPr>
          <a:xfrm>
            <a:off x="1097280" y="1874519"/>
            <a:ext cx="9875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2324A"/>
                </a:solidFill>
                <a:latin typeface="Calibri"/>
                <a:ea typeface="PingFang SC"/>
                <a:cs typeface="PingFang SC"/>
              </a:rPr>
              <a:t>Phase 8 智能体稳定性验收</a:t>
            </a:r>
          </a:p>
        </p:txBody>
      </p:sp>
      <p:sp>
        <p:nvSpPr>
          <p:cNvPr id="5" name="Awaken:subtitle"/>
          <p:cNvSpPr txBox="1"/>
          <p:nvPr/>
        </p:nvSpPr>
        <p:spPr>
          <a:xfrm>
            <a:off x="1645920" y="324612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64748B"/>
                </a:solidFill>
                <a:latin typeface="Calibri"/>
                <a:ea typeface="PingFang SC"/>
                <a:cs typeface="PingFang SC"/>
              </a:rPr>
              <a:t>中文运行时验收报告</a:t>
            </a:r>
          </a:p>
        </p:txBody>
      </p:sp>
      <p:sp>
        <p:nvSpPr>
          <p:cNvPr id="6" name="Awaken:body"/>
          <p:cNvSpPr txBox="1"/>
          <p:nvPr/>
        </p:nvSpPr>
        <p:spPr>
          <a:xfrm>
            <a:off x="1828800" y="40690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验证历史会话、工具调用、产物渲染与跨平台稳定性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55680" cy="27432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waken:subtitle"/>
          <p:cNvSpPr txBox="1"/>
          <p:nvPr/>
        </p:nvSpPr>
        <p:spPr>
          <a:xfrm>
            <a:off x="566928" y="384048"/>
            <a:ext cx="10927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EA5A4"/>
                </a:solidFill>
                <a:latin typeface="Calibri"/>
                <a:ea typeface="PingFang SC"/>
                <a:cs typeface="PingFang SC"/>
              </a:rPr>
              <a:t>历史会话与工具链路全量还原</a:t>
            </a:r>
          </a:p>
        </p:txBody>
      </p:sp>
      <p:sp>
        <p:nvSpPr>
          <p:cNvPr id="5" name="Awaken:title"/>
          <p:cNvSpPr txBox="1"/>
          <p:nvPr/>
        </p:nvSpPr>
        <p:spPr>
          <a:xfrm>
            <a:off x="566928" y="62179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2324A"/>
                </a:solidFill>
                <a:latin typeface="Calibri"/>
                <a:ea typeface="PingFang SC"/>
                <a:cs typeface="PingFang SC"/>
              </a:rPr>
              <a:t>验收范围：完整重放能力</a:t>
            </a:r>
          </a:p>
        </p:txBody>
      </p:sp>
      <p:sp>
        <p:nvSpPr>
          <p:cNvPr id="6" name="Awaken:body"/>
          <p:cNvSpPr txBox="1"/>
          <p:nvPr/>
        </p:nvSpPr>
        <p:spPr>
          <a:xfrm>
            <a:off x="658368" y="1325880"/>
            <a:ext cx="108813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本页说明 Phase 8 对一次完整任务运行轨迹的精确复现要求。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历史会话文本：逐轮对话内容完整保留，上下文顺序不丢失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ToolCall：调用名、参数、调用顺序与结构完全一致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ToolResult：返回字段、状态码、文本与数值保持等价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Artifact：产物文件哈希、路径、元数据与原始任务一致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55680" cy="27432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waken:title"/>
          <p:cNvSpPr txBox="1"/>
          <p:nvPr/>
        </p:nvSpPr>
        <p:spPr>
          <a:xfrm>
            <a:off x="566928" y="34747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2324A"/>
                </a:solidFill>
                <a:latin typeface="Calibri"/>
                <a:ea typeface="PingFang SC"/>
                <a:cs typeface="PingFang SC"/>
              </a:rPr>
              <a:t>三大稳定性维度对比</a:t>
            </a:r>
          </a:p>
        </p:txBody>
      </p:sp>
      <p:sp>
        <p:nvSpPr>
          <p:cNvPr id="5" name="Awaken:subtitle"/>
          <p:cNvSpPr txBox="1"/>
          <p:nvPr/>
        </p:nvSpPr>
        <p:spPr>
          <a:xfrm>
            <a:off x="658368" y="96012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EA5A4"/>
                </a:solidFill>
                <a:latin typeface="Calibri"/>
                <a:ea typeface="PingFang SC"/>
                <a:cs typeface="PingFang SC"/>
              </a:rPr>
              <a:t>从持久化、工具到运行时的全面考察</a:t>
            </a:r>
          </a:p>
        </p:txBody>
      </p:sp>
      <p:sp>
        <p:nvSpPr>
          <p:cNvPr id="6" name="Awaken:body"/>
          <p:cNvSpPr txBox="1"/>
          <p:nvPr/>
        </p:nvSpPr>
        <p:spPr>
          <a:xfrm>
            <a:off x="658368" y="1271016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  <a:ea typeface="PingFang SC"/>
                <a:cs typeface="PingFang SC"/>
              </a:rPr>
              <a:t>以下三列分别列出 4 条独立验收点，确保任一维度均不缺失。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37944"/>
            <a:ext cx="3474720" cy="3968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2082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A5A4"/>
                </a:solidFill>
                <a:latin typeface="Calibri"/>
                <a:ea typeface="PingFang SC"/>
                <a:cs typeface="PingFang SC"/>
              </a:rPr>
              <a:t>历史持久化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23744"/>
            <a:ext cx="3108960" cy="3099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会话记录持久化到本地存储，支持断电恢复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多轮对话上下文按时间顺序索引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用户输入与助手回复一一对应存档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支持按任务 ID 快速检索与回放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37944"/>
            <a:ext cx="3474720" cy="3968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02082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A5A4"/>
                </a:solidFill>
                <a:latin typeface="Calibri"/>
                <a:ea typeface="PingFang SC"/>
                <a:cs typeface="PingFang SC"/>
              </a:rPr>
              <a:t>工具稳定性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23744"/>
            <a:ext cx="3108960" cy="3099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ToolCall 解析器严格校验 JSON Schema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工具执行异常时返回统一错误结构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ToolResult 序列化与反序列化结果一致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工具超时、重试、降级策略可配置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837944"/>
            <a:ext cx="3474720" cy="3968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2082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A5A4"/>
                </a:solidFill>
                <a:latin typeface="Calibri"/>
                <a:ea typeface="PingFang SC"/>
                <a:cs typeface="PingFang SC"/>
              </a:rPr>
              <a:t>运行时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23744"/>
            <a:ext cx="3108960" cy="3099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LibreOffice 与 Poppler 渲染依赖正常加载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PPTX 生成与预览无空白页、无重叠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Visual 验证通过 package、LibreOffice、Poppler 三项检查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运行时状态报告 verified=true 方可发布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55680" cy="27432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waken:title"/>
          <p:cNvSpPr txBox="1"/>
          <p:nvPr/>
        </p:nvSpPr>
        <p:spPr>
          <a:xfrm>
            <a:off x="566928" y="34747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2324A"/>
                </a:solidFill>
                <a:latin typeface="Calibri"/>
                <a:ea typeface="PingFang SC"/>
                <a:cs typeface="PingFang SC"/>
              </a:rPr>
              <a:t>验收流程四步法</a:t>
            </a:r>
          </a:p>
        </p:txBody>
      </p:sp>
      <p:sp>
        <p:nvSpPr>
          <p:cNvPr id="5" name="Awaken:subtitle"/>
          <p:cNvSpPr txBox="1"/>
          <p:nvPr/>
        </p:nvSpPr>
        <p:spPr>
          <a:xfrm>
            <a:off x="658368" y="96012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EA5A4"/>
                </a:solidFill>
                <a:latin typeface="Calibri"/>
                <a:ea typeface="PingFang SC"/>
                <a:cs typeface="PingFang SC"/>
              </a:rPr>
              <a:t>从任务启动到原子发布的完整链路</a:t>
            </a:r>
          </a:p>
        </p:txBody>
      </p:sp>
      <p:sp>
        <p:nvSpPr>
          <p:cNvPr id="6" name="Awaken:body"/>
          <p:cNvSpPr txBox="1"/>
          <p:nvPr/>
        </p:nvSpPr>
        <p:spPr>
          <a:xfrm>
            <a:off x="658368" y="1271016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  <a:ea typeface="PingFang SC"/>
                <a:cs typeface="PingFang SC"/>
              </a:rPr>
              <a:t>每一步均须完成并通过，方可进入下一阶段。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000250" y="2889504"/>
            <a:ext cx="8161019" cy="54864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40230" y="2756916"/>
            <a:ext cx="320040" cy="32004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73552"/>
            <a:ext cx="2628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任务启动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22776"/>
            <a:ext cx="26289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EA5A4"/>
                </a:solidFill>
                <a:latin typeface="Calibri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61104"/>
            <a:ext cx="26289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  <a:ea typeface="PingFang SC"/>
                <a:cs typeface="PingFang SC"/>
              </a:rPr>
              <a:t>加载历史会话与运行时配置，初始化工具池与依赖检查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60570" y="2756916"/>
            <a:ext cx="320040" cy="32004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6139" y="3273552"/>
            <a:ext cx="2628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工具执行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6139" y="3922776"/>
            <a:ext cx="26289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EA5A4"/>
                </a:solidFill>
                <a:latin typeface="Calibri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6139" y="4261104"/>
            <a:ext cx="26289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  <a:ea typeface="PingFang SC"/>
                <a:cs typeface="PingFang SC"/>
              </a:rPr>
              <a:t>按历史记录顺序重放 ToolCall，捕获并比对 ToolResult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80910" y="2756916"/>
            <a:ext cx="320040" cy="32004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273552"/>
            <a:ext cx="2628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产物验证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922776"/>
            <a:ext cx="26289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EA5A4"/>
                </a:solidFill>
                <a:latin typeface="Calibri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261104"/>
            <a:ext cx="26289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  <a:ea typeface="PingFang SC"/>
                <a:cs typeface="PingFang SC"/>
              </a:rPr>
              <a:t>使用 LibreOffice 和 Poppler 渲染预览，确认无空白、无裁切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01250" y="2756916"/>
            <a:ext cx="320040" cy="32004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46820" y="3273552"/>
            <a:ext cx="2628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原子发布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6820" y="3922776"/>
            <a:ext cx="26289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EA5A4"/>
                </a:solidFill>
                <a:latin typeface="Calibri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6820" y="4261104"/>
            <a:ext cx="26289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  <a:ea typeface="PingFang SC"/>
                <a:cs typeface="PingFang SC"/>
              </a:rPr>
              <a:t>仅当 package、渲染、视觉验证全部通过后才发布产物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55680" cy="27432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waken:title"/>
          <p:cNvSpPr txBox="1"/>
          <p:nvPr/>
        </p:nvSpPr>
        <p:spPr>
          <a:xfrm>
            <a:off x="1097280" y="196596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12324A"/>
                </a:solidFill>
                <a:latin typeface="Calibri"/>
                <a:ea typeface="PingFang SC"/>
                <a:cs typeface="PingFang SC"/>
              </a:rPr>
              <a:t>验收结论</a:t>
            </a:r>
          </a:p>
        </p:txBody>
      </p:sp>
      <p:sp>
        <p:nvSpPr>
          <p:cNvPr id="5" name="Awaken:subtitle"/>
          <p:cNvSpPr txBox="1"/>
          <p:nvPr/>
        </p:nvSpPr>
        <p:spPr>
          <a:xfrm>
            <a:off x="1828800" y="306324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EA5A4"/>
                </a:solidFill>
                <a:latin typeface="Calibri"/>
                <a:ea typeface="PingFang SC"/>
                <a:cs typeface="PingFang SC"/>
              </a:rPr>
              <a:t>Phase 8 运行时验收结果</a:t>
            </a:r>
          </a:p>
        </p:txBody>
      </p:sp>
      <p:sp>
        <p:nvSpPr>
          <p:cNvPr id="6" name="Awaken:body"/>
          <p:cNvSpPr txBox="1"/>
          <p:nvPr/>
        </p:nvSpPr>
        <p:spPr>
          <a:xfrm>
            <a:off x="1828800" y="365760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macOS Desktop 验收通过，Windows 真实 Desktop 待平台验收。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PPTX 共 5 页，全部使用中文，布局完整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PDF/PNG 预览已生成，渲染链路验证成功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package、LibreOffice、Poppler 与视觉检查均通过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  <a:ea typeface="PingFang SC"/>
                <a:cs typeface="PingFang SC"/>
              </a:rPr>
              <a:t>• verified=true，可进入下一阶段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8 智能体稳定性验收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